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216000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31999" y="216000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43999" y="216000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27999" y="719999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40000" y="719999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23999" y="1223999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35999" y="1223999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7999" y="1223999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0000" y="1727999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31999" y="1727999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43999" y="1727999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27999" y="2231999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40000" y="2231999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23999" y="2736000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35999" y="2736000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47999" y="2736000"/>
            <a:ext cx="54000" cy="540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C0CCF0"/>
                </a:solidFill>
                <a:latin typeface="Consolas"/>
              </a:defRPr>
            </a:pPr>
            <a:r>
              <a:t>TheTower · 毕业设计答辩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C0CCF0"/>
                </a:solidFill>
                <a:latin typeface="Consolas"/>
              </a:defRPr>
            </a:pPr>
            <a:r>
              <a:t>01 /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126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C0CCF0"/>
                </a:solidFill>
                <a:latin typeface="Consolas"/>
              </a:defRPr>
            </a:pPr>
            <a:r>
              <a:t>BROWSER RPA · CANVAS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1800000"/>
            <a:ext cx="108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defRPr sz="4800" b="0">
                <a:solidFill>
                  <a:srgbClr val="FFFFFF"/>
                </a:solidFill>
                <a:latin typeface="Inter"/>
              </a:defRPr>
            </a:pPr>
            <a:r>
              <a:t>基于 Playwright 的</a:t>
            </a:r>
            <a:br/>
            <a:r>
              <a:t>浏览器 RPA 画布工作流系统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432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D0D8F2"/>
                </a:solidFill>
                <a:latin typeface="Inter"/>
              </a:defRPr>
            </a:pPr>
            <a:r>
              <a:t>TheTower — 拖拽节点、连线编排，驱动真实浏览器自动化执行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5112000"/>
            <a:ext cx="10800000" cy="10800"/>
          </a:xfrm>
          <a:prstGeom prst="rect">
            <a:avLst/>
          </a:prstGeom>
          <a:solidFill>
            <a:srgbClr val="6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5472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B0C0E8"/>
                </a:solidFill>
                <a:latin typeface="Inter"/>
              </a:defRPr>
            </a:pPr>
            <a:r>
              <a:t>东莞理工学院 · 计算机科学与技术学院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0" y="54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100" b="0">
                <a:solidFill>
                  <a:srgbClr val="B0C0E8"/>
                </a:solidFill>
                <a:latin typeface="Inter"/>
              </a:defRPr>
            </a:pPr>
            <a:r>
              <a:t>学生：XXX · 指导教师：XXX 副教授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737373"/>
                </a:solidFill>
                <a:latin typeface="Consolas"/>
              </a:defRPr>
            </a:pPr>
            <a:r>
              <a:t>WHY THE TOWER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600" b="0">
                <a:solidFill>
                  <a:srgbClr val="0A0A0A"/>
                </a:solidFill>
                <a:latin typeface="Inter"/>
              </a:defRPr>
            </a:pPr>
            <a:r>
              <a:t>浏览器重复操作的困境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880000"/>
            <a:ext cx="3311999" cy="3060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000" y="3096000"/>
            <a:ext cx="266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737373"/>
                </a:solidFill>
                <a:latin typeface="Consolas"/>
              </a:defRPr>
            </a:pPr>
            <a:r>
              <a:t>纯脚本方案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4000" y="3456000"/>
            <a:ext cx="266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Selenium · Playwright · Puppeteer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4000" y="3816000"/>
            <a:ext cx="2663999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4000" y="4032000"/>
            <a:ext cx="2663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✗ 需要编程基础</a:t>
            </a:r>
            <a:br/>
            <a:r>
              <a:t>✗ 脚本维护成本高</a:t>
            </a:r>
            <a:br/>
            <a:r>
              <a:t>✗ 缺乏可视化界面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9999" y="2880000"/>
            <a:ext cx="3311999" cy="3060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3999" y="3096000"/>
            <a:ext cx="266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737373"/>
                </a:solidFill>
                <a:latin typeface="Consolas"/>
              </a:defRPr>
            </a:pPr>
            <a:r>
              <a:t>商业 RPA 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999" y="3456000"/>
            <a:ext cx="266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UiPath · 来也 · 影刀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3999" y="3816000"/>
            <a:ext cx="2663999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3999" y="4032000"/>
            <a:ext cx="2663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✗ 授权费用昂贵</a:t>
            </a:r>
            <a:br/>
            <a:r>
              <a:t>✗ 配置部署复杂</a:t>
            </a:r>
            <a:br/>
            <a:r>
              <a:t>✗ 定制能力受限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19998" y="2880000"/>
            <a:ext cx="3311999" cy="3060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3998" y="3096000"/>
            <a:ext cx="266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C0CCF0"/>
                </a:solidFill>
                <a:latin typeface="Consolas"/>
              </a:defRPr>
            </a:pPr>
            <a:r>
              <a:t>TheTower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3998" y="3456000"/>
            <a:ext cx="266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FFFFFF"/>
                </a:solidFill>
                <a:latin typeface="Inter"/>
              </a:defRPr>
            </a:pPr>
            <a:r>
              <a:t>画布编排 + 浏览器执行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3998" y="3816000"/>
            <a:ext cx="2663999" cy="7200"/>
          </a:xfrm>
          <a:prstGeom prst="rect">
            <a:avLst/>
          </a:prstGeom>
          <a:solidFill>
            <a:srgbClr val="6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3998" y="4032000"/>
            <a:ext cx="2663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200" b="0">
                <a:solidFill>
                  <a:srgbClr val="FFFFFF"/>
                </a:solidFill>
                <a:latin typeface="Inter"/>
              </a:defRPr>
            </a:pPr>
            <a:r>
              <a:t>✓ 低代码拖拽编排</a:t>
            </a:r>
            <a:br/>
            <a:r>
              <a:t>✓ 零成本本地部署</a:t>
            </a:r>
            <a:br/>
            <a:r>
              <a:t>✓ 全程可观测执行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800" b="0">
                <a:solidFill>
                  <a:srgbClr val="0A0A0A"/>
                </a:solidFill>
                <a:latin typeface="Inter"/>
              </a:defRPr>
            </a:pPr>
            <a:r>
              <a:t>画布 × 浏览器 = 低代码 RPA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7999" y="3420000"/>
            <a:ext cx="10224000" cy="1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6000" y="3366000"/>
            <a:ext cx="108000" cy="108000"/>
          </a:xfrm>
          <a:prstGeom prst="ellipse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000" y="2520000"/>
            <a:ext cx="16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defRPr sz="1100" b="0">
                <a:solidFill>
                  <a:srgbClr val="0A0A0A"/>
                </a:solidFill>
                <a:latin typeface="Inter"/>
              </a:defRPr>
            </a:pPr>
            <a:r>
              <a:t>PHASE 01</a:t>
            </a:r>
            <a:br/>
            <a:r>
              <a:t>拖拽编排</a:t>
            </a:r>
            <a:br/>
            <a:r>
              <a:t>节点拖拽 · 参数配置</a:t>
            </a:r>
            <a:br/>
            <a:r>
              <a:t>连线建模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3888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ReactFlow 可视化画布</a:t>
            </a:r>
          </a:p>
        </p:txBody>
      </p:sp>
      <p:sp>
        <p:nvSpPr>
          <p:cNvPr id="11" name="Oval 10"/>
          <p:cNvSpPr/>
          <p:nvPr/>
        </p:nvSpPr>
        <p:spPr>
          <a:xfrm>
            <a:off x="5346000" y="3366000"/>
            <a:ext cx="108000" cy="108000"/>
          </a:xfrm>
          <a:prstGeom prst="ellipse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0000" y="2520000"/>
            <a:ext cx="16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defRPr sz="1100" b="0">
                <a:solidFill>
                  <a:srgbClr val="0A0A0A"/>
                </a:solidFill>
                <a:latin typeface="Inter"/>
              </a:defRPr>
            </a:pPr>
            <a:r>
              <a:t>PHASE 02</a:t>
            </a:r>
            <a:br/>
            <a:r>
              <a:t>浏览器执行</a:t>
            </a:r>
            <a:br/>
            <a:r>
              <a:t>流程解析 · 步骤映射</a:t>
            </a:r>
            <a:br/>
            <a:r>
              <a:t>真实操作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0" y="3888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002FA7"/>
                </a:solidFill>
                <a:latin typeface="Consolas"/>
              </a:defRPr>
            </a:pPr>
            <a:r>
              <a:t>Playwright 自动化引擎</a:t>
            </a:r>
          </a:p>
        </p:txBody>
      </p:sp>
      <p:sp>
        <p:nvSpPr>
          <p:cNvPr id="14" name="Oval 13"/>
          <p:cNvSpPr/>
          <p:nvPr/>
        </p:nvSpPr>
        <p:spPr>
          <a:xfrm>
            <a:off x="8766000" y="3366000"/>
            <a:ext cx="108000" cy="108000"/>
          </a:xfrm>
          <a:prstGeom prst="ellipse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000" y="2520000"/>
            <a:ext cx="16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defRPr sz="1100" b="0">
                <a:solidFill>
                  <a:srgbClr val="0A0A0A"/>
                </a:solidFill>
                <a:latin typeface="Inter"/>
              </a:defRPr>
            </a:pPr>
            <a:r>
              <a:t>PHASE 03</a:t>
            </a:r>
            <a:br/>
            <a:r>
              <a:t>实时回传</a:t>
            </a:r>
            <a:br/>
            <a:r>
              <a:t>状态推送 · 日志输出</a:t>
            </a:r>
            <a:br/>
            <a:r>
              <a:t>调试反馈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0" y="3888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WebSocket 实时推送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968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 b="0">
                <a:solidFill>
                  <a:srgbClr val="737373"/>
                </a:solidFill>
                <a:latin typeface="Inter"/>
              </a:defRPr>
            </a:pPr>
            <a:r>
              <a:t>用户不需要写一行代码，只要理解自己的业务流程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737373"/>
                </a:solidFill>
                <a:latin typeface="Consolas"/>
              </a:defRPr>
            </a:pPr>
            <a:r>
              <a:t>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600" b="0">
                <a:solidFill>
                  <a:srgbClr val="0A0A0A"/>
                </a:solidFill>
                <a:latin typeface="Inter"/>
              </a:defRPr>
            </a:pPr>
            <a:r>
              <a:t>五层架构 · 前后端分离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088000"/>
            <a:ext cx="10800000" cy="792000"/>
          </a:xfrm>
          <a:prstGeom prst="rect">
            <a:avLst/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999" y="2178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00" b="1">
                <a:solidFill>
                  <a:srgbClr val="002FA7"/>
                </a:solidFill>
                <a:latin typeface="Consolas"/>
              </a:defRPr>
            </a:pPr>
            <a:r>
              <a:t>LAYER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999" y="2339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0A0A0A"/>
                </a:solidFill>
                <a:latin typeface="Inter"/>
              </a:defRPr>
            </a:pPr>
            <a:r>
              <a:t>前端展示层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2196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React + ReactFlow</a:t>
            </a:r>
            <a:br/>
            <a:r>
              <a:t>画布 · 配置 · 监控 · 调试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3060000"/>
            <a:ext cx="10800000" cy="792000"/>
          </a:xfrm>
          <a:prstGeom prst="rect">
            <a:avLst/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7999" y="3150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00" b="1">
                <a:solidFill>
                  <a:srgbClr val="002FA7"/>
                </a:solidFill>
                <a:latin typeface="Consolas"/>
              </a:defRPr>
            </a:pPr>
            <a:r>
              <a:t>LAYER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999" y="3311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0A0A0A"/>
                </a:solidFill>
                <a:latin typeface="Inter"/>
              </a:defRPr>
            </a:pPr>
            <a:r>
              <a:t>通信协议层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0" y="3168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REST 管理操作</a:t>
            </a:r>
            <a:br/>
            <a:r>
              <a:t>WebSocket 实时推送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4032000"/>
            <a:ext cx="10800000" cy="79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7999" y="412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00" b="1">
                <a:solidFill>
                  <a:srgbClr val="C0CCF0"/>
                </a:solidFill>
                <a:latin typeface="Consolas"/>
              </a:defRPr>
            </a:pPr>
            <a:r>
              <a:t>LAYER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999" y="4283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FFFFF"/>
                </a:solidFill>
                <a:latin typeface="Inter"/>
              </a:defRPr>
            </a:pPr>
            <a:r>
              <a:t>后端服务层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0" y="4140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E0E8F8"/>
                </a:solidFill>
                <a:latin typeface="Inter"/>
              </a:defRPr>
            </a:pPr>
            <a:r>
              <a:t>Ktor + Kotlin</a:t>
            </a:r>
            <a:br/>
            <a:r>
              <a:t>模板 · 运行 · 调试 · 调度 · 认证 · 协作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5004000"/>
            <a:ext cx="10800000" cy="792000"/>
          </a:xfrm>
          <a:prstGeom prst="rect">
            <a:avLst/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7999" y="509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00" b="1">
                <a:solidFill>
                  <a:srgbClr val="002FA7"/>
                </a:solidFill>
                <a:latin typeface="Consolas"/>
              </a:defRPr>
            </a:pPr>
            <a:r>
              <a:t>LAYER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999" y="5255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0A0A0A"/>
                </a:solidFill>
                <a:latin typeface="Inter"/>
              </a:defRPr>
            </a:pPr>
            <a:r>
              <a:t>执行引擎层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0" y="5112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Playwright Java</a:t>
            </a:r>
            <a:br/>
            <a:r>
              <a:t>步骤解析 · 浏览器驱动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5976000"/>
            <a:ext cx="10800000" cy="792000"/>
          </a:xfrm>
          <a:prstGeom prst="rect">
            <a:avLst/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999" y="606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00" b="1">
                <a:solidFill>
                  <a:srgbClr val="002FA7"/>
                </a:solidFill>
                <a:latin typeface="Consolas"/>
              </a:defRPr>
            </a:pPr>
            <a:r>
              <a:t>LAYER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99" y="6227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0A0A0A"/>
                </a:solidFill>
                <a:latin typeface="Inter"/>
              </a:defRPr>
            </a:pPr>
            <a:r>
              <a:t>数据存储层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0" y="6084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SQLite + 文件存储</a:t>
            </a:r>
            <a:br/>
            <a:r>
              <a:t>模板 · 运行 · 产物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630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界面管编排 · 后端管执行 · 双通道协议解耦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737373"/>
                </a:solidFill>
                <a:latin typeface="Consolas"/>
              </a:defRPr>
            </a:pPr>
            <a:r>
              <a:t>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400" b="0">
                <a:solidFill>
                  <a:srgbClr val="0A0A0A"/>
                </a:solidFill>
                <a:latin typeface="Inter"/>
              </a:defRPr>
            </a:pPr>
            <a:r>
              <a:t>技术选型一览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520000"/>
            <a:ext cx="2448000" cy="151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6000" y="266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002FA7"/>
                </a:solidFill>
                <a:latin typeface="Consolas"/>
              </a:defRPr>
            </a:pPr>
            <a:r>
              <a:t>v12.10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295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02FA7"/>
                </a:solidFill>
                <a:latin typeface="Inter"/>
              </a:defRPr>
            </a:pPr>
            <a:r>
              <a:t>ReactFlow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000" y="3312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525252"/>
                </a:solidFill>
                <a:latin typeface="Inter"/>
              </a:defRPr>
            </a:pPr>
            <a:r>
              <a:t>节点式画布引擎</a:t>
            </a:r>
            <a:br/>
            <a:r>
              <a:t>拖拽 · 连线 · 小地图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8000" y="2520000"/>
            <a:ext cx="2448000" cy="151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4000" y="266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002FA7"/>
                </a:solidFill>
                <a:latin typeface="Consolas"/>
              </a:defRPr>
            </a:pPr>
            <a:r>
              <a:t>v1.6.3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4000" y="295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02FA7"/>
                </a:solidFill>
                <a:latin typeface="Inter"/>
              </a:defRPr>
            </a:pPr>
            <a:r>
              <a:t>Playwright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4000" y="3312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525252"/>
                </a:solidFill>
                <a:latin typeface="Inter"/>
              </a:defRPr>
            </a:pPr>
            <a:r>
              <a:t>跨浏览器自动化内核</a:t>
            </a:r>
            <a:br/>
            <a:r>
              <a:t>Chromium · Firefox · WebKit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000" y="2520000"/>
            <a:ext cx="2448000" cy="151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2000" y="266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002FA7"/>
                </a:solidFill>
                <a:latin typeface="Consolas"/>
              </a:defRPr>
            </a:pPr>
            <a:r>
              <a:t>v2.3.12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000" y="295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02FA7"/>
                </a:solidFill>
                <a:latin typeface="Inter"/>
              </a:defRPr>
            </a:pPr>
            <a:r>
              <a:t>Ktor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2000" y="3312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525252"/>
                </a:solidFill>
                <a:latin typeface="Inter"/>
              </a:defRPr>
            </a:pPr>
            <a:r>
              <a:t>轻量异步 Web 服务</a:t>
            </a:r>
            <a:br/>
            <a:r>
              <a:t>REST + WebSocket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520000"/>
            <a:ext cx="2448000" cy="151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0000" y="266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002FA7"/>
                </a:solidFill>
                <a:latin typeface="Consolas"/>
              </a:defRPr>
            </a:pPr>
            <a:r>
              <a:t>v3.46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0000" y="295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02FA7"/>
                </a:solidFill>
                <a:latin typeface="Inter"/>
              </a:defRPr>
            </a:pPr>
            <a: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0000" y="3312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525252"/>
                </a:solidFill>
                <a:latin typeface="Inter"/>
              </a:defRPr>
            </a:pPr>
            <a:r>
              <a:t>零配置本地持久化</a:t>
            </a:r>
            <a:br/>
            <a:r>
              <a:t>单文件 · 零运维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4392000"/>
            <a:ext cx="2448000" cy="151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000" y="453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v19.2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000" y="482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0A0A"/>
                </a:solidFill>
                <a:latin typeface="Inter"/>
              </a:defRPr>
            </a:pPr>
            <a:r>
              <a:t>React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000" y="5184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525252"/>
                </a:solidFill>
                <a:latin typeface="Inter"/>
              </a:defRPr>
            </a:pPr>
            <a:r>
              <a:t>UI 组件框架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8000" y="4392000"/>
            <a:ext cx="2448000" cy="151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4000" y="453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v4.6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4000" y="482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0A0A"/>
                </a:solidFill>
                <a:latin typeface="Inter"/>
              </a:defRPr>
            </a:pPr>
            <a:r>
              <a:t>Umi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4000" y="5184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525252"/>
                </a:solidFill>
                <a:latin typeface="Inter"/>
              </a:defRPr>
            </a:pPr>
            <a:r>
              <a:t>前端工程化框架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6000" y="4392000"/>
            <a:ext cx="2448000" cy="151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2000" y="453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v6.2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2000" y="482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0A0A"/>
                </a:solidFill>
                <a:latin typeface="Inter"/>
              </a:defRPr>
            </a:pPr>
            <a:r>
              <a:t>Ant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2000" y="5184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525252"/>
                </a:solidFill>
                <a:latin typeface="Inter"/>
              </a:defRPr>
            </a:pPr>
            <a:r>
              <a:t>企业级 UI 组件库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392000"/>
            <a:ext cx="2448000" cy="151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0000" y="453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v6.15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0000" y="482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0A0A"/>
                </a:solidFill>
                <a:latin typeface="Inter"/>
              </a:defRPr>
            </a:pPr>
            <a:r>
              <a:t>MobX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0000" y="5184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525252"/>
                </a:solidFill>
                <a:latin typeface="Inter"/>
              </a:defRPr>
            </a:pPr>
            <a:r>
              <a:t>响应式状态管理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HIGHLIGHT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VISUAL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600" b="0">
                <a:solidFill>
                  <a:srgbClr val="0A0A0A"/>
                </a:solidFill>
                <a:latin typeface="Inter"/>
              </a:defRPr>
            </a:pPr>
            <a:r>
              <a:t>拖拽即编排，无需写一行代码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700000"/>
            <a:ext cx="10800000" cy="3060000"/>
          </a:xfrm>
          <a:prstGeom prst="rect">
            <a:avLst/>
          </a:prstGeom>
          <a:solidFill>
            <a:srgbClr val="F0F0E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60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0">
                <a:solidFill>
                  <a:srgbClr val="737373"/>
                </a:solidFill>
                <a:latin typeface="Inter"/>
              </a:defRPr>
            </a:pPr>
            <a:r>
              <a:t>📸 截图占位：screenshot-editor.png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4320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100" b="0">
                <a:solidFill>
                  <a:srgbClr val="737373"/>
                </a:solidFill>
                <a:latin typeface="Inter"/>
              </a:defRPr>
            </a:pPr>
            <a:r>
              <a:t>编辑器三栏布局 — 左侧步骤库 · 中间 ReactFlow 画布拖拽连线 · 右侧配置面板参数表单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" y="6048000"/>
            <a:ext cx="1368000" cy="32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自动保存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8000" y="6048000"/>
            <a:ext cx="1368000" cy="32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自动布局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96000" y="6048000"/>
            <a:ext cx="1368000" cy="32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撤销重做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3999" y="6048000"/>
            <a:ext cx="1368000" cy="32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搜索分组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92000" y="6048000"/>
            <a:ext cx="1368000" cy="32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克隆复制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0000" y="6048000"/>
            <a:ext cx="1368000" cy="32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批量删除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HIGHLIGHT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REAL-TIME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600" b="0">
                <a:solidFill>
                  <a:srgbClr val="0A0A0A"/>
                </a:solidFill>
                <a:latin typeface="Inter"/>
              </a:defRPr>
            </a:pPr>
            <a:r>
              <a:t>每一秒都知道运行到了哪里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592000"/>
            <a:ext cx="5400000" cy="3240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42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 b="0">
                <a:solidFill>
                  <a:srgbClr val="737373"/>
                </a:solidFill>
                <a:latin typeface="Inter"/>
              </a:defRPr>
            </a:pPr>
            <a:r>
              <a:t>📸 screenshot-run-monitor.png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4140000"/>
            <a:ext cx="4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100" b="0">
                <a:solidFill>
                  <a:srgbClr val="737373"/>
                </a:solidFill>
                <a:latin typeface="Inter"/>
              </a:defRPr>
            </a:pPr>
            <a:r>
              <a:t>运行监控面板</a:t>
            </a:r>
            <a:br/>
            <a:r>
              <a:t>步骤列表 + 状态指示灯</a:t>
            </a:r>
            <a:br/>
            <a:r>
              <a:t>实时日志输出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976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REST：创建 / 取消 / 重启运行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000" y="2448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WEBSOCKET 事件流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0000" y="2808000"/>
            <a:ext cx="4500000" cy="4320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2000" y="288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737373"/>
                </a:solidFill>
                <a:latin typeface="Consolas"/>
              </a:defRPr>
            </a:pPr>
            <a:r>
              <a:t>RUN_STARTED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3348000"/>
            <a:ext cx="4500000" cy="4320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2000" y="342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737373"/>
                </a:solidFill>
                <a:latin typeface="Consolas"/>
              </a:defRPr>
            </a:pPr>
            <a:r>
              <a:t>STEP_STARTED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000" y="3888000"/>
            <a:ext cx="4500000" cy="4320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2000" y="396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737373"/>
                </a:solidFill>
                <a:latin typeface="Consolas"/>
              </a:defRPr>
            </a:pPr>
            <a:r>
              <a:t>STEP_SUCCEEDED / FAILED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000" y="4428000"/>
            <a:ext cx="4500000" cy="4320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2000" y="450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737373"/>
                </a:solidFill>
                <a:latin typeface="Consolas"/>
              </a:defRPr>
            </a:pPr>
            <a:r>
              <a:t>LOG 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20000" y="4968000"/>
            <a:ext cx="4500000" cy="43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2000" y="504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FFFFFF"/>
                </a:solidFill>
                <a:latin typeface="Consolas"/>
              </a:defRPr>
            </a:pPr>
            <a:r>
              <a:t>RUN_SUCCEEDED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0000" y="5616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8 种事件类型 · 毫秒级推送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HIGHLIGHT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DEBUG WORKBENCH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200" b="0">
                <a:solidFill>
                  <a:srgbClr val="0A0A0A"/>
                </a:solidFill>
                <a:latin typeface="Inter"/>
              </a:defRPr>
            </a:pPr>
            <a:r>
              <a:t>出了问题，能定位、能回溯、能远程操控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520000"/>
            <a:ext cx="3311999" cy="270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" y="2520000"/>
            <a:ext cx="3311999" cy="432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000" y="2808000"/>
            <a:ext cx="26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02FA7"/>
                </a:solidFill>
                <a:latin typeface="Consolas"/>
              </a:defRPr>
            </a:pPr>
            <a:r>
              <a:t>01 条件断点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4000" y="3240000"/>
            <a:ext cx="2663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  <a:defRPr sz="1200" b="0">
                <a:solidFill>
                  <a:srgbClr val="525252"/>
                </a:solidFill>
                <a:latin typeface="Inter"/>
              </a:defRPr>
            </a:pPr>
            <a:r>
              <a:t>设定触发条件</a:t>
            </a:r>
            <a:br/>
            <a:r>
              <a:t>命中后自动暂停执行</a:t>
            </a:r>
            <a:br/>
            <a:r>
              <a:t>支持命中次数计数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4000" y="4608000"/>
            <a:ext cx="2663999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4000" y="4680000"/>
            <a:ext cx="2663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00" b="0">
                <a:solidFill>
                  <a:srgbClr val="737373"/>
                </a:solidFill>
                <a:latin typeface="Consolas"/>
              </a:defRPr>
            </a:pPr>
            <a:r>
              <a:t>BREAKPOINT · CONDITIONAL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0" y="2520000"/>
            <a:ext cx="3311999" cy="270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0000" y="2520000"/>
            <a:ext cx="3311999" cy="432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4000" y="2808000"/>
            <a:ext cx="26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02FA7"/>
                </a:solidFill>
                <a:latin typeface="Consolas"/>
              </a:defRPr>
            </a:pPr>
            <a:r>
              <a:t>02 时间旅行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000" y="3240000"/>
            <a:ext cx="2663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  <a:defRPr sz="1200" b="0">
                <a:solidFill>
                  <a:srgbClr val="525252"/>
                </a:solidFill>
                <a:latin typeface="Inter"/>
              </a:defRPr>
            </a:pPr>
            <a:r>
              <a:t>回看历史步骤</a:t>
            </a:r>
            <a:br/>
            <a:r>
              <a:t>变量快照+页面状态</a:t>
            </a:r>
            <a:br/>
            <a:r>
              <a:t>像倒带一样回溯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4000" y="4608000"/>
            <a:ext cx="2663999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4000" y="4680000"/>
            <a:ext cx="2663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00" b="0">
                <a:solidFill>
                  <a:srgbClr val="737373"/>
                </a:solidFill>
                <a:latin typeface="Consolas"/>
              </a:defRPr>
            </a:pPr>
            <a:r>
              <a:t>TIME TRAVEL · SNAPSHOT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0" y="2520000"/>
            <a:ext cx="3311999" cy="270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0000" y="2520000"/>
            <a:ext cx="3311999" cy="432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4000" y="2808000"/>
            <a:ext cx="26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02FA7"/>
                </a:solidFill>
                <a:latin typeface="Consolas"/>
              </a:defRPr>
            </a:pPr>
            <a:r>
              <a:t>03 远程操控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000" y="3240000"/>
            <a:ext cx="2663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  <a:defRPr sz="1200" b="0">
                <a:solidFill>
                  <a:srgbClr val="525252"/>
                </a:solidFill>
                <a:latin typeface="Inter"/>
              </a:defRPr>
            </a:pPr>
            <a:r>
              <a:t>调试预览区直接交互</a:t>
            </a:r>
            <a:br/>
            <a:r>
              <a:t>点击 · 输入 · 导航</a:t>
            </a:r>
            <a:br/>
            <a:r>
              <a:t>操控真实浏览器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4000" y="4608000"/>
            <a:ext cx="2663999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4000" y="4680000"/>
            <a:ext cx="2663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00" b="0">
                <a:solidFill>
                  <a:srgbClr val="737373"/>
                </a:solidFill>
                <a:latin typeface="Consolas"/>
              </a:defRPr>
            </a:pPr>
            <a:r>
              <a:t>REMOTE CONTROL · PREVIEW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0000" y="5400000"/>
            <a:ext cx="3060000" cy="1007999"/>
          </a:xfrm>
          <a:prstGeom prst="rect">
            <a:avLst/>
          </a:prstGeom>
          <a:solidFill>
            <a:srgbClr val="F0F0E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0000" y="5688000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📸 debug.png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737373"/>
                </a:solidFill>
                <a:latin typeface="Consolas"/>
              </a:defRPr>
            </a:pPr>
            <a:r>
              <a:t>NODE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400" b="0">
                <a:solidFill>
                  <a:srgbClr val="0A0A0A"/>
                </a:solidFill>
                <a:latin typeface="Inter"/>
              </a:defRPr>
            </a:pPr>
            <a:r>
              <a:t>不止点击输入，覆盖完整数据链路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520000"/>
            <a:ext cx="2448000" cy="288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8000" y="2771999"/>
            <a:ext cx="18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页面操作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8000" y="3168000"/>
            <a:ext cx="1872000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000" y="3384000"/>
            <a:ext cx="187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openUrl</a:t>
            </a:r>
            <a:br/>
            <a:r>
              <a:t>click</a:t>
            </a:r>
            <a:br/>
            <a:r>
              <a:t>type</a:t>
            </a:r>
            <a:br/>
            <a:r>
              <a:t>wait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000" y="2520000"/>
            <a:ext cx="2448000" cy="288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4000" y="2771999"/>
            <a:ext cx="18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数据提取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4000" y="3168000"/>
            <a:ext cx="1872000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4000" y="3384000"/>
            <a:ext cx="187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extract 文本</a:t>
            </a:r>
            <a:br/>
            <a:r>
              <a:t>extract 属性</a:t>
            </a:r>
            <a:br/>
            <a:r>
              <a:t>页面信息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2000" y="2520000"/>
            <a:ext cx="2448000" cy="288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0" y="2771999"/>
            <a:ext cx="18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文件与 Excel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0000" y="3168000"/>
            <a:ext cx="1872000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0000" y="3384000"/>
            <a:ext cx="187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saveData</a:t>
            </a:r>
            <a:br/>
            <a:r>
              <a:t>saveExcel</a:t>
            </a:r>
            <a:br/>
            <a:r>
              <a:t>importExcel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27999" y="2520000"/>
            <a:ext cx="2448000" cy="288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5999" y="2771999"/>
            <a:ext cx="18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网络监听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15999" y="3168000"/>
            <a:ext cx="1872000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5999" y="3384000"/>
            <a:ext cx="187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100" b="0">
                <a:solidFill>
                  <a:srgbClr val="525252"/>
                </a:solidFill>
                <a:latin typeface="Inter"/>
              </a:defRPr>
            </a:pPr>
            <a:r>
              <a:t>listenRequestTrigger</a:t>
            </a:r>
            <a:br/>
            <a:r>
              <a:t>listenRequestResult</a:t>
            </a:r>
            <a:br/>
            <a:r>
              <a:t>stopPageListen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56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页面操作 → 数据提取 → 文件落盘 → 网络观测    一个流程跑通完整业务闭环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737373"/>
                </a:solidFill>
                <a:latin typeface="Consolas"/>
              </a:defRPr>
            </a:pPr>
            <a:r>
              <a:t>PLATFORM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400" b="0">
                <a:solidFill>
                  <a:srgbClr val="0A0A0A"/>
                </a:solidFill>
                <a:latin typeface="Inter"/>
              </a:defRPr>
            </a:pPr>
            <a:r>
              <a:t>从工具到平台的六个模块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520000"/>
            <a:ext cx="2448000" cy="198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8000" y="2771999"/>
            <a:ext cx="18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模板市场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3240000"/>
            <a:ext cx="18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525252"/>
                </a:solidFill>
                <a:latin typeface="Inter"/>
              </a:defRPr>
            </a:pPr>
            <a:r>
              <a:t>浏览 · 发布 · 导入</a:t>
            </a:r>
            <a:br/>
            <a:r>
              <a:t>模板复用降低成本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000" y="2520000"/>
            <a:ext cx="2448000" cy="198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4000" y="2771999"/>
            <a:ext cx="18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调度任务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4000" y="3240000"/>
            <a:ext cx="18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525252"/>
                </a:solidFill>
                <a:latin typeface="Inter"/>
              </a:defRPr>
            </a:pPr>
            <a:r>
              <a:t>单次触发 · 周期执行</a:t>
            </a:r>
            <a:br/>
            <a:r>
              <a:t>查看最近触发结果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2000" y="2520000"/>
            <a:ext cx="2448000" cy="198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0" y="2771999"/>
            <a:ext cx="18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认证与工作空间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3240000"/>
            <a:ext cx="18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525252"/>
                </a:solidFill>
                <a:latin typeface="Inter"/>
              </a:defRPr>
            </a:pPr>
            <a:r>
              <a:t>登录 · 登出 · 多空间</a:t>
            </a:r>
            <a:br/>
            <a:r>
              <a:t>资源隔离 · 访问控制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7999" y="2520000"/>
            <a:ext cx="2448000" cy="198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5999" y="2771999"/>
            <a:ext cx="18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协作编辑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5999" y="3240000"/>
            <a:ext cx="18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525252"/>
                </a:solidFill>
                <a:latin typeface="Inter"/>
              </a:defRPr>
            </a:pPr>
            <a:r>
              <a:t>模板分享 · 在线状态</a:t>
            </a:r>
            <a:br/>
            <a:r>
              <a:t>冲突提示 · 差异采纳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9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 b="1">
                <a:solidFill>
                  <a:srgbClr val="002FA7"/>
                </a:solidFill>
                <a:latin typeface="Consolas"/>
              </a:defRPr>
            </a:pPr>
            <a:r>
              <a:t>✓ 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0000" y="489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 b="1">
                <a:solidFill>
                  <a:srgbClr val="002FA7"/>
                </a:solidFill>
                <a:latin typeface="Consolas"/>
              </a:defRPr>
            </a:pPr>
            <a:r>
              <a:t>✓ 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0" y="489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 b="1">
                <a:solidFill>
                  <a:srgbClr val="002FA7"/>
                </a:solidFill>
                <a:latin typeface="Consolas"/>
              </a:defRPr>
            </a:pPr>
            <a:r>
              <a:t>✓ 调试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000" y="489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 b="1">
                <a:solidFill>
                  <a:srgbClr val="002FA7"/>
                </a:solidFill>
                <a:latin typeface="Consolas"/>
              </a:defRPr>
            </a:pPr>
            <a:r>
              <a:t>✓ 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0000" y="489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 b="1">
                <a:solidFill>
                  <a:srgbClr val="002FA7"/>
                </a:solidFill>
                <a:latin typeface="Consolas"/>
              </a:defRPr>
            </a:pPr>
            <a:r>
              <a:t>✓ 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00" y="489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 b="1">
                <a:solidFill>
                  <a:srgbClr val="002FA7"/>
                </a:solidFill>
                <a:latin typeface="Consolas"/>
              </a:defRPr>
            </a:pPr>
            <a:r>
              <a:t>✓ 协议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5256000"/>
            <a:ext cx="10800000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547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02FA7"/>
                </a:solidFill>
                <a:latin typeface="Inter"/>
              </a:defRPr>
            </a:pPr>
            <a:r>
              <a:t>首版能力闭环已完成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737373"/>
                </a:solidFill>
                <a:latin typeface="Consolas"/>
              </a:defRPr>
            </a:pPr>
            <a:r>
              <a:t>TEST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400" b="0">
                <a:solidFill>
                  <a:srgbClr val="0A0A0A"/>
                </a:solidFill>
                <a:latin typeface="Inter"/>
              </a:defRPr>
            </a:pPr>
            <a:r>
              <a:t>测试数据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160000"/>
            <a:ext cx="5220000" cy="1260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304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6000" b="1">
                <a:solidFill>
                  <a:srgbClr val="002FA7"/>
                </a:solidFill>
                <a:latin typeface="Inter"/>
              </a:defRPr>
            </a:pPr>
            <a:r>
              <a:t>142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167999"/>
            <a:ext cx="52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测试用例总数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2160000"/>
            <a:ext cx="5220000" cy="1260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0" y="2304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800" b="1">
                <a:solidFill>
                  <a:srgbClr val="FFFFFF"/>
                </a:solidFill>
                <a:latin typeface="Inter"/>
              </a:defRPr>
            </a:pPr>
            <a:r>
              <a:t>97.2%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3167999"/>
            <a:ext cx="52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C0CCF0"/>
                </a:solidFill>
                <a:latin typeface="Consolas"/>
              </a:defRPr>
            </a:pPr>
            <a:r>
              <a:t>总通过率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671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0A0A0A"/>
                </a:solidFill>
                <a:latin typeface="Inter"/>
              </a:defRPr>
            </a:pPr>
            <a:r>
              <a:t>模板管理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0" y="3725999"/>
            <a:ext cx="6660000" cy="1440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000" y="3725999"/>
            <a:ext cx="6660000" cy="14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84000" y="3671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22/22 100%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013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0A0A0A"/>
                </a:solidFill>
                <a:latin typeface="Inter"/>
              </a:defRPr>
            </a:pPr>
            <a:r>
              <a:t>流程编排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0" y="4067999"/>
            <a:ext cx="6660000" cy="1440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80000" y="4067999"/>
            <a:ext cx="6327000" cy="14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84000" y="4013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20/21 95.2%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355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0A0A0A"/>
                </a:solidFill>
                <a:latin typeface="Inter"/>
              </a:defRPr>
            </a:pPr>
            <a:r>
              <a:t>运行调试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0" y="4409999"/>
            <a:ext cx="6660000" cy="1440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80000" y="4409999"/>
            <a:ext cx="6660000" cy="14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4000" y="4355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48/48 100%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4697998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0A0A0A"/>
                </a:solidFill>
                <a:latin typeface="Inter"/>
              </a:defRPr>
            </a:pPr>
            <a:r>
              <a:t>数据集成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0" y="4751998"/>
            <a:ext cx="6660000" cy="1440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80000" y="4751998"/>
            <a:ext cx="5994000" cy="14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84000" y="4697998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27/30 90.0%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5039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0A0A0A"/>
                </a:solidFill>
                <a:latin typeface="Inter"/>
              </a:defRPr>
            </a:pPr>
            <a:r>
              <a:t>平台能力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0" y="5093999"/>
            <a:ext cx="6660000" cy="1440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000" y="5093999"/>
            <a:ext cx="6660000" cy="14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4000" y="5039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7/7 100%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5381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0A0A0A"/>
                </a:solidFill>
                <a:latin typeface="Inter"/>
              </a:defRPr>
            </a:pPr>
            <a:r>
              <a:t>协议存储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0" y="5435999"/>
            <a:ext cx="6660000" cy="1440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80000" y="5435999"/>
            <a:ext cx="6660000" cy="14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84000" y="5381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9/9 100%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00" y="5723998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0A0A0A"/>
                </a:solidFill>
                <a:latin typeface="Inter"/>
              </a:defRPr>
            </a:pPr>
            <a:r>
              <a:t>性能兼容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000" y="5777998"/>
            <a:ext cx="6660000" cy="1440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0" y="5777998"/>
            <a:ext cx="6660000" cy="144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84000" y="5723998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737373"/>
                </a:solidFill>
                <a:latin typeface="Consolas"/>
              </a:defRPr>
            </a:pPr>
            <a:r>
              <a:t>5/5 100%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" y="604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性能指标：50节点流畅 · 3浏览器兼容 · 3流程并发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737373"/>
                </a:solidFill>
                <a:latin typeface="Consolas"/>
              </a:defRPr>
            </a:pPr>
            <a:r>
              <a:t>DESIGN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400" b="0">
                <a:solidFill>
                  <a:srgbClr val="0A0A0A"/>
                </a:solidFill>
                <a:latin typeface="Inter"/>
              </a:defRPr>
            </a:pPr>
            <a:r>
              <a:t>三个关键设计选择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520000"/>
            <a:ext cx="540000" cy="360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538000"/>
            <a:ext cx="9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0A0A"/>
                </a:solidFill>
                <a:latin typeface="Inter"/>
              </a:defRPr>
            </a:pPr>
            <a:r>
              <a:t>为什么 ReactFlow 而非自建画布？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2000" y="2952000"/>
            <a:ext cx="9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525252"/>
                </a:solidFill>
                <a:latin typeface="Inter"/>
              </a:defRPr>
            </a:pPr>
            <a:r>
              <a:t>内置节点/边模型 + 拖拽缩放 + 生态成熟，无需从零实现画布层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600000"/>
            <a:ext cx="10800000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00" y="3780000"/>
            <a:ext cx="540000" cy="360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798000"/>
            <a:ext cx="9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0A0A"/>
                </a:solidFill>
                <a:latin typeface="Inter"/>
              </a:defRPr>
            </a:pPr>
            <a:r>
              <a:t>为什么 REST + WebSocket 而非纯轮询？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2000" y="4212000"/>
            <a:ext cx="9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525252"/>
                </a:solidFill>
                <a:latin typeface="Inter"/>
              </a:defRPr>
            </a:pPr>
            <a:r>
              <a:t>管理操作需要清晰的请求响应边界，执行状态需要毫秒级实时推送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860000"/>
            <a:ext cx="10800000" cy="10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" y="5040000"/>
            <a:ext cx="540000" cy="360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058000"/>
            <a:ext cx="9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0A0A"/>
                </a:solidFill>
                <a:latin typeface="Inter"/>
              </a:defRPr>
            </a:pPr>
            <a:r>
              <a:t>为什么 SQLite 而非 PostgreSQL？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2000" y="5472000"/>
            <a:ext cx="9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525252"/>
                </a:solidFill>
                <a:latin typeface="Inter"/>
              </a:defRPr>
            </a:pPr>
            <a:r>
              <a:t>零配置本地部署 + 毕设规模完全够用，单文件数据库降低运维成本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737373"/>
                </a:solidFill>
                <a:latin typeface="Consolas"/>
              </a:defRPr>
            </a:pPr>
            <a: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7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02FA7"/>
                </a:solidFill>
                <a:latin typeface="Consolas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10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defRPr sz="3400" b="0">
                <a:solidFill>
                  <a:srgbClr val="0A0A0A"/>
                </a:solidFill>
                <a:latin typeface="Inter"/>
              </a:defRPr>
            </a:pPr>
            <a:r>
              <a:t>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60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737373"/>
                </a:solidFill>
                <a:latin typeface="Consolas"/>
              </a:defRPr>
            </a:pPr>
            <a:r>
              <a:t>已完成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520000"/>
            <a:ext cx="4860000" cy="612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999" y="2645999"/>
            <a:ext cx="42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0A0A0A"/>
                </a:solidFill>
                <a:latin typeface="Inter"/>
              </a:defRPr>
            </a:pPr>
            <a:r>
              <a:t>✓  可视化流程编排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312000"/>
            <a:ext cx="4860000" cy="612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7999" y="3437999"/>
            <a:ext cx="42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0A0A0A"/>
                </a:solidFill>
                <a:latin typeface="Inter"/>
              </a:defRPr>
            </a:pPr>
            <a:r>
              <a:t>✓  浏览器自动化执行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4104000"/>
            <a:ext cx="4860000" cy="612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999" y="4229999"/>
            <a:ext cx="42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0A0A0A"/>
                </a:solidFill>
                <a:latin typeface="Inter"/>
              </a:defRPr>
            </a:pPr>
            <a:r>
              <a:t>✓  调试排障工作台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896000"/>
            <a:ext cx="4860000" cy="61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999" y="5021999"/>
            <a:ext cx="42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FFFFFF"/>
                </a:solidFill>
                <a:latin typeface="Inter"/>
              </a:defRPr>
            </a:pPr>
            <a:r>
              <a:t>✓  首版产品化闭环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8000" y="2340000"/>
            <a:ext cx="18000" cy="3780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2000" y="2160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737373"/>
                </a:solidFill>
                <a:latin typeface="Consolas"/>
              </a:defRPr>
            </a:pPr>
            <a:r>
              <a:t>待改进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2000" y="2645999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 b="0">
                <a:solidFill>
                  <a:srgbClr val="737373"/>
                </a:solidFill>
                <a:latin typeface="Inter"/>
              </a:defRPr>
            </a:pPr>
            <a:r>
              <a:t>·  协作冲突自动合并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2000" y="3437999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 b="0">
                <a:solidFill>
                  <a:srgbClr val="737373"/>
                </a:solidFill>
                <a:latin typeface="Inter"/>
              </a:defRPr>
            </a:pPr>
            <a:r>
              <a:t>·  细粒度权限控制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2000" y="4229999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 b="0">
                <a:solidFill>
                  <a:srgbClr val="737373"/>
                </a:solidFill>
                <a:latin typeface="Inter"/>
              </a:defRPr>
            </a:pPr>
            <a:r>
              <a:t>·  长流程自动化验证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2000" y="5021999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 b="0">
                <a:solidFill>
                  <a:srgbClr val="737373"/>
                </a:solidFill>
                <a:latin typeface="Inter"/>
              </a:defRPr>
            </a:pPr>
            <a:r>
              <a:t>·  持久化能力升级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5940000"/>
            <a:ext cx="10800000" cy="540000"/>
          </a:xfrm>
          <a:prstGeom prst="rect">
            <a:avLst/>
          </a:prstGeom>
          <a:solidFill>
            <a:srgbClr val="E6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7999" y="597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0A0A0A"/>
                </a:solidFill>
                <a:latin typeface="Inter"/>
              </a:defRPr>
            </a:pPr>
            <a:r>
              <a:t>“让浏览器自动化更简单”出发，完成了一个可编排、可执行、可调试、可协作的低代码浏览器 RPA 系统。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5940000"/>
            <a:ext cx="36000" cy="540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360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8000" y="360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76000" y="360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15999" y="792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44000" y="792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84000" y="1224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1999" y="1224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52000" y="1655999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80000" y="1655999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07999" y="1655999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0000" y="2088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48000" y="2088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76000" y="2088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15999" y="2520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44000" y="2520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84000" y="2951999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1999" y="2951999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52000" y="3384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80000" y="3384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07999" y="3384000"/>
            <a:ext cx="43200" cy="43200"/>
          </a:xfrm>
          <a:prstGeom prst="ellipse">
            <a:avLst/>
          </a:prstGeom>
          <a:solidFill>
            <a:srgbClr val="4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39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C0CCF0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0000" y="39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C0CCF0"/>
                </a:solidFill>
                <a:latin typeface="Consolas"/>
              </a:defRPr>
            </a:pPr>
            <a:r>
              <a:t>14 / 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1980000"/>
            <a:ext cx="10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5400" b="0">
                <a:solidFill>
                  <a:srgbClr val="FFFFFF"/>
                </a:solidFill>
                <a:latin typeface="Inter"/>
              </a:defRPr>
            </a:pPr>
            <a:r>
              <a:t>感谢各位老师</a:t>
            </a:r>
            <a:br/>
            <a:r>
              <a:t>请多指教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84000" y="4140000"/>
            <a:ext cx="1800000" cy="10800"/>
          </a:xfrm>
          <a:prstGeom prst="rect">
            <a:avLst/>
          </a:prstGeom>
          <a:solidFill>
            <a:srgbClr val="80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450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0">
                <a:solidFill>
                  <a:srgbClr val="C0CCF0"/>
                </a:solidFill>
                <a:latin typeface="Inter"/>
              </a:defRPr>
            </a:pPr>
            <a:r>
              <a:t>接下来：现场演示（3 分钟）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